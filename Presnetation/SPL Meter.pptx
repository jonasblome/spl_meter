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6" r:id="rId10"/>
    <p:sldId id="262" r:id="rId11"/>
    <p:sldId id="263" r:id="rId1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7" d="100"/>
          <a:sy n="117" d="100"/>
        </p:scale>
        <p:origin x="102" y="16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35639bc8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f35639bc8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f35639bc8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f35639bc8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f35639bc8c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f35639bc8c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f35639bc8c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f35639bc8c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f35639bc8c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f35639bc8c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21A22BA4-A39B-A827-CC6F-1F83D53A9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f35639bc8c_0_29:notes">
            <a:extLst>
              <a:ext uri="{FF2B5EF4-FFF2-40B4-BE49-F238E27FC236}">
                <a16:creationId xmlns:a16="http://schemas.microsoft.com/office/drawing/2014/main" id="{8AD9F516-CDA9-C616-5AD5-A5FAE19D41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f35639bc8c_0_29:notes">
            <a:extLst>
              <a:ext uri="{FF2B5EF4-FFF2-40B4-BE49-F238E27FC236}">
                <a16:creationId xmlns:a16="http://schemas.microsoft.com/office/drawing/2014/main" id="{B774EC2A-EBBD-74C2-3C43-602F9FB057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610317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68FA5458-5507-AB9A-C038-CA8CFDFB1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f35639bc8c_0_29:notes">
            <a:extLst>
              <a:ext uri="{FF2B5EF4-FFF2-40B4-BE49-F238E27FC236}">
                <a16:creationId xmlns:a16="http://schemas.microsoft.com/office/drawing/2014/main" id="{5BB0F417-FF22-DB58-EA45-81B7232D23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f35639bc8c_0_29:notes">
            <a:extLst>
              <a:ext uri="{FF2B5EF4-FFF2-40B4-BE49-F238E27FC236}">
                <a16:creationId xmlns:a16="http://schemas.microsoft.com/office/drawing/2014/main" id="{79A7EA22-2868-C9DE-98B6-9BE92EA6D9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60450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1406B858-A633-59D2-5287-E140BBD0A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f35639bc8c_0_29:notes">
            <a:extLst>
              <a:ext uri="{FF2B5EF4-FFF2-40B4-BE49-F238E27FC236}">
                <a16:creationId xmlns:a16="http://schemas.microsoft.com/office/drawing/2014/main" id="{96195B74-2220-BD61-1D68-B47554F906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f35639bc8c_0_29:notes">
            <a:extLst>
              <a:ext uri="{FF2B5EF4-FFF2-40B4-BE49-F238E27FC236}">
                <a16:creationId xmlns:a16="http://schemas.microsoft.com/office/drawing/2014/main" id="{851A9156-8431-7D71-B6E8-25C654C171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372465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35639bc8c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35639bc8c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f35639bc8c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f35639bc8c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:push dir="u"/>
      </p:transition>
    </mc:Choice>
    <mc:Fallback>
      <p:transition spd="slow">
        <p:push dir="u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:push dir="u"/>
      </p:transition>
    </mc:Choice>
    <mc:Fallback>
      <p:transition spd="slow">
        <p:push dir="u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:push dir="u"/>
      </p:transition>
    </mc:Choice>
    <mc:Fallback>
      <p:transition spd="slow">
        <p:push dir="u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:push dir="u"/>
      </p:transition>
    </mc:Choice>
    <mc:Fallback>
      <p:transition spd="slow">
        <p:push dir="u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:push dir="u"/>
      </p:transition>
    </mc:Choice>
    <mc:Fallback>
      <p:transition spd="slow">
        <p:push dir="u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:push dir="u"/>
      </p:transition>
    </mc:Choice>
    <mc:Fallback>
      <p:transition spd="slow">
        <p:push dir="u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:push dir="u"/>
      </p:transition>
    </mc:Choice>
    <mc:Fallback>
      <p:transition spd="slow">
        <p:push dir="u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:push dir="u"/>
      </p:transition>
    </mc:Choice>
    <mc:Fallback>
      <p:transition spd="slow">
        <p:push dir="u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:push dir="u"/>
      </p:transition>
    </mc:Choice>
    <mc:Fallback>
      <p:transition spd="slow">
        <p:push dir="u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:push dir="u"/>
      </p:transition>
    </mc:Choice>
    <mc:Fallback>
      <p:transition spd="slow">
        <p:push dir="u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:push dir="u"/>
      </p:transition>
    </mc:Choice>
    <mc:Fallback>
      <p:transition spd="slow">
        <p:push dir="u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dark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 xmlns:mc="http://schemas.openxmlformats.org/markup-compatibility/2006">
    <mc:Choice xmlns:p14="http://schemas.microsoft.com/office/powerpoint/2010/main" Requires="p14">
      <p:transition spd="slow" p14:dur="4000">
        <p:push dir="u"/>
      </p:transition>
    </mc:Choice>
    <mc:Fallback>
      <p:transition spd="slow">
        <p:push dir="u"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microsoft.com/office/2007/relationships/hdphoto" Target="../media/hdphoto2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microsoft.com/office/2007/relationships/hdphoto" Target="../media/hdphoto3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microsoft.com/office/2007/relationships/hdphoto" Target="../media/hdphoto4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microsoft.com/office/2007/relationships/hdphoto" Target="../media/hdphoto5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microsoft.com/office/2007/relationships/hdphoto" Target="../media/hdphoto6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microsoft.com/office/2007/relationships/hdphoto" Target="../media/hdphoto7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microsoft.com/office/2007/relationships/hdphoto" Target="../media/hdphoto8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png"/><Relationship Id="rId4" Type="http://schemas.microsoft.com/office/2007/relationships/hdphoto" Target="../media/hdphoto9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microsoft.com/office/2007/relationships/hdphoto" Target="../media/hdphoto10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microsoft.com/office/2007/relationships/hdphoto" Target="../media/hdphoto8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solidFill>
            <a:schemeClr val="lt1">
              <a:alpha val="50000"/>
            </a:schemeClr>
          </a:solidFill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SPL Meter on a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Raspberry Pi Zero W</a:t>
            </a:r>
            <a:endParaRPr dirty="0"/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solidFill>
            <a:schemeClr val="lt1">
              <a:alpha val="50000"/>
            </a:schemeClr>
          </a:solidFill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Presentation von Jonas Blome (510438), Jonathan Ploch (XXXXXX), Lars Dickmann (0486312) und Tianyi Feng (XXXXXX)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:push dir="u"/>
      </p:transition>
    </mc:Choice>
    <mc:Fallback>
      <p:transition spd="slow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5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55" grpId="1" animBg="1"/>
      <p:bldP spid="56" grpId="0" uiExpand="1" build="p" animBg="1"/>
      <p:bldP spid="56" grpId="1" uiExpand="1" build="p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2019630" y="1152475"/>
            <a:ext cx="6812669" cy="3416400"/>
          </a:xfrm>
          <a:prstGeom prst="rect">
            <a:avLst/>
          </a:prstGeom>
          <a:solidFill>
            <a:schemeClr val="lt1">
              <a:alpha val="50000"/>
            </a:schemeClr>
          </a:solidFill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r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de" dirty="0">
                <a:solidFill>
                  <a:schemeClr val="tx1"/>
                </a:solidFill>
              </a:rPr>
              <a:t>Ein embedded SPL-Meter mit den üblichen Audio-Kennwerten,</a:t>
            </a:r>
            <a:endParaRPr dirty="0">
              <a:solidFill>
                <a:schemeClr val="tx1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>
                <a:solidFill>
                  <a:schemeClr val="tx1"/>
                </a:solidFill>
              </a:rPr>
              <a:t>programmiert in Python. Echtzeit-Berechnung von SPL-Metriken</a:t>
            </a:r>
            <a:endParaRPr dirty="0">
              <a:solidFill>
                <a:schemeClr val="tx1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>
                <a:solidFill>
                  <a:schemeClr val="tx1"/>
                </a:solidFill>
              </a:rPr>
              <a:t>durch hardwarenahe und effiziente Programmierung</a:t>
            </a:r>
            <a:endParaRPr dirty="0">
              <a:solidFill>
                <a:schemeClr val="tx1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>
                <a:solidFill>
                  <a:schemeClr val="tx1"/>
                </a:solidFill>
              </a:rPr>
              <a:t>auf einem Raspberry Pi Zero W.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lang="de" dirty="0">
              <a:solidFill>
                <a:schemeClr val="tx1"/>
              </a:solidFill>
            </a:endParaRPr>
          </a:p>
          <a:p>
            <a:pPr marL="114300" indent="0" algn="r">
              <a:buNone/>
            </a:pPr>
            <a:r>
              <a:rPr lang="" b="1" dirty="0">
                <a:solidFill>
                  <a:schemeClr val="tx1"/>
                </a:solidFill>
              </a:rPr>
              <a:t>Fokus:			</a:t>
            </a:r>
            <a:endParaRPr lang="" dirty="0">
              <a:solidFill>
                <a:schemeClr val="tx1"/>
              </a:solidFill>
            </a:endParaRPr>
          </a:p>
          <a:p>
            <a:pPr algn="r"/>
            <a:r>
              <a:rPr lang="" dirty="0">
                <a:solidFill>
                  <a:schemeClr val="tx1"/>
                </a:solidFill>
              </a:rPr>
              <a:t>- Echtzeit-Audioanalyse			</a:t>
            </a:r>
          </a:p>
          <a:p>
            <a:pPr algn="r"/>
            <a:r>
              <a:rPr lang="" dirty="0">
                <a:solidFill>
                  <a:schemeClr val="tx1"/>
                </a:solidFill>
              </a:rPr>
              <a:t>- Hardwarenahe Python-Programmierung	</a:t>
            </a:r>
          </a:p>
          <a:p>
            <a:pPr algn="r"/>
            <a:r>
              <a:rPr lang="" dirty="0">
                <a:solidFill>
                  <a:schemeClr val="tx1"/>
                </a:solidFill>
              </a:rPr>
              <a:t>- Ressourcenschonende Umsetzung		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de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95C51361-F61C-43B2-AA20-026AC584F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Aufgabe</a:t>
            </a:r>
            <a:endParaRPr lang="LID4096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:push dir="u"/>
      </p:transition>
    </mc:Choice>
    <mc:Fallback>
      <p:transition spd="slow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0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6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uiExpand="1" build="p" animBg="1"/>
      <p:bldP spid="63" grpId="1" uiExpand="1" build="p" animBg="1"/>
      <p:bldP spid="3" grpId="0"/>
      <p:bldP spid="3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Anforderungen</a:t>
            </a:r>
            <a:endParaRPr dirty="0"/>
          </a:p>
        </p:txBody>
      </p:sp>
      <p:sp>
        <p:nvSpPr>
          <p:cNvPr id="69" name="Google Shape;69;p15"/>
          <p:cNvSpPr txBox="1">
            <a:spLocks noGrp="1"/>
          </p:cNvSpPr>
          <p:nvPr>
            <p:ph type="body" idx="1"/>
          </p:nvPr>
        </p:nvSpPr>
        <p:spPr>
          <a:xfrm>
            <a:off x="3967700" y="1017725"/>
            <a:ext cx="4864599" cy="3551150"/>
          </a:xfrm>
          <a:prstGeom prst="rect">
            <a:avLst/>
          </a:prstGeom>
          <a:solidFill>
            <a:schemeClr val="lt1">
              <a:alpha val="50000"/>
            </a:schemeClr>
          </a:solidFill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de" dirty="0">
                <a:solidFill>
                  <a:schemeClr val="tx1"/>
                </a:solidFill>
              </a:rPr>
              <a:t>Muss:</a:t>
            </a:r>
            <a:endParaRPr dirty="0">
              <a:solidFill>
                <a:schemeClr val="tx1"/>
              </a:solidFill>
            </a:endParaRPr>
          </a:p>
          <a:p>
            <a:pPr marL="457200" lvl="0" indent="-308610" algn="l" rtl="0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de" dirty="0">
                <a:solidFill>
                  <a:schemeClr val="tx1"/>
                </a:solidFill>
              </a:rPr>
              <a:t>Digitaler Audioeingang über USB (bis 48kHz)</a:t>
            </a:r>
            <a:endParaRPr dirty="0">
              <a:solidFill>
                <a:schemeClr val="tx1"/>
              </a:solidFill>
            </a:endParaRPr>
          </a:p>
          <a:p>
            <a:pPr marL="457200" lvl="0" indent="-308610" algn="l" rtl="0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de" dirty="0">
                <a:solidFill>
                  <a:schemeClr val="tx1"/>
                </a:solidFill>
              </a:rPr>
              <a:t>Echtzeit SPL-Berechnung (Peak, RMS and SPL in dB)</a:t>
            </a:r>
            <a:endParaRPr dirty="0">
              <a:solidFill>
                <a:schemeClr val="tx1"/>
              </a:solidFill>
            </a:endParaRPr>
          </a:p>
          <a:p>
            <a:pPr marL="457200" lvl="0" indent="-308610" algn="l" rtl="0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de" dirty="0">
                <a:solidFill>
                  <a:schemeClr val="tx1"/>
                </a:solidFill>
              </a:rPr>
              <a:t>Zeitbewertung (Fast &amp; Slow)</a:t>
            </a:r>
            <a:endParaRPr dirty="0">
              <a:solidFill>
                <a:schemeClr val="tx1"/>
              </a:solidFill>
            </a:endParaRPr>
          </a:p>
          <a:p>
            <a:pPr marL="457200" lvl="0" indent="-308610" algn="l" rtl="0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de" dirty="0">
                <a:solidFill>
                  <a:schemeClr val="tx1"/>
                </a:solidFill>
              </a:rPr>
              <a:t>Leq Messung</a:t>
            </a:r>
            <a:endParaRPr dirty="0">
              <a:solidFill>
                <a:schemeClr val="tx1"/>
              </a:solidFill>
            </a:endParaRPr>
          </a:p>
          <a:p>
            <a:pPr marL="457200" lvl="0" indent="-308610" algn="l" rtl="0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de" dirty="0">
                <a:solidFill>
                  <a:schemeClr val="tx1"/>
                </a:solidFill>
              </a:rPr>
              <a:t>Oktav- &amp; Terzbandanalyse</a:t>
            </a:r>
            <a:endParaRPr dirty="0">
              <a:solidFill>
                <a:schemeClr val="tx1"/>
              </a:solidFill>
            </a:endParaRPr>
          </a:p>
          <a:p>
            <a:pPr marL="457200" lvl="0" indent="-308610" algn="l" rtl="0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de" dirty="0">
                <a:solidFill>
                  <a:schemeClr val="tx1"/>
                </a:solidFill>
              </a:rPr>
              <a:t>Frequenzbewertung (Z- &amp; A-Bewertung)</a:t>
            </a:r>
            <a:endParaRPr dirty="0">
              <a:solidFill>
                <a:schemeClr val="tx1"/>
              </a:solidFill>
            </a:endParaRPr>
          </a:p>
          <a:p>
            <a:pPr marL="457200" lvl="0" indent="-308610" algn="l" rtl="0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de" dirty="0">
                <a:solidFill>
                  <a:schemeClr val="tx1"/>
                </a:solidFill>
              </a:rPr>
              <a:t>Leichtgewichtige Web-UI</a:t>
            </a:r>
            <a:endParaRPr dirty="0">
              <a:solidFill>
                <a:schemeClr val="tx1"/>
              </a:solidFill>
            </a:endParaRPr>
          </a:p>
          <a:p>
            <a:pPr marL="457200" lvl="0" indent="-308610" algn="l" rtl="0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de" dirty="0">
                <a:solidFill>
                  <a:schemeClr val="tx1"/>
                </a:solidFill>
              </a:rPr>
              <a:t>JSON Export der Messdaten</a:t>
            </a:r>
            <a:endParaRPr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de" dirty="0">
                <a:solidFill>
                  <a:schemeClr val="tx1"/>
                </a:solidFill>
              </a:rPr>
              <a:t>Kann:</a:t>
            </a:r>
            <a:endParaRPr dirty="0">
              <a:solidFill>
                <a:schemeClr val="tx1"/>
              </a:solidFill>
            </a:endParaRPr>
          </a:p>
          <a:p>
            <a:pPr marL="457200" lvl="0" indent="-308610" algn="l" rtl="0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de" dirty="0">
                <a:solidFill>
                  <a:schemeClr val="tx1"/>
                </a:solidFill>
              </a:rPr>
              <a:t>Mikrofonkalibrierung</a:t>
            </a:r>
            <a:endParaRPr dirty="0">
              <a:solidFill>
                <a:schemeClr val="tx1"/>
              </a:solidFill>
            </a:endParaRPr>
          </a:p>
          <a:p>
            <a:pPr marL="457200" lvl="0" indent="-308610" algn="l" rtl="0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de" dirty="0">
                <a:solidFill>
                  <a:schemeClr val="tx1"/>
                </a:solidFill>
              </a:rPr>
              <a:t>Command Line Steuerung</a:t>
            </a:r>
            <a:endParaRPr dirty="0">
              <a:solidFill>
                <a:schemeClr val="tx1"/>
              </a:solidFill>
            </a:endParaRPr>
          </a:p>
          <a:p>
            <a:pPr marL="457200" lvl="0" indent="-308610" algn="l" rtl="0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de" dirty="0">
                <a:solidFill>
                  <a:schemeClr val="tx1"/>
                </a:solidFill>
              </a:rPr>
              <a:t>Audio Aufzeichnung der Messung</a:t>
            </a: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:push dir="u"/>
      </p:transition>
    </mc:Choice>
    <mc:Fallback>
      <p:transition spd="slow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500"/>
                                        <p:tgtEl>
                                          <p:spTgt spid="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6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500"/>
                                        <p:tgtEl>
                                          <p:spTgt spid="6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500"/>
                                        <p:tgtEl>
                                          <p:spTgt spid="6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500"/>
                                        <p:tgtEl>
                                          <p:spTgt spid="6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500"/>
                                        <p:tgtEl>
                                          <p:spTgt spid="6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500"/>
                                        <p:tgtEl>
                                          <p:spTgt spid="6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500"/>
                                        <p:tgtEl>
                                          <p:spTgt spid="6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" dur="500"/>
                                        <p:tgtEl>
                                          <p:spTgt spid="6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500"/>
                                        <p:tgtEl>
                                          <p:spTgt spid="6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/>
      <p:bldP spid="68" grpId="1"/>
      <p:bldP spid="69" grpId="0" uiExpand="1" build="p" animBg="1"/>
      <p:bldP spid="69" grpId="1" uiExpand="1" build="p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Umsetzung</a:t>
            </a:r>
            <a:endParaRPr dirty="0"/>
          </a:p>
        </p:txBody>
      </p:sp>
      <p:sp>
        <p:nvSpPr>
          <p:cNvPr id="75" name="Google Shape;75;p16"/>
          <p:cNvSpPr txBox="1">
            <a:spLocks noGrp="1"/>
          </p:cNvSpPr>
          <p:nvPr>
            <p:ph type="body" idx="1"/>
          </p:nvPr>
        </p:nvSpPr>
        <p:spPr>
          <a:xfrm>
            <a:off x="5080883" y="1152475"/>
            <a:ext cx="3751417" cy="3416400"/>
          </a:xfrm>
          <a:prstGeom prst="rect">
            <a:avLst/>
          </a:prstGeom>
          <a:solidFill>
            <a:schemeClr val="lt1">
              <a:alpha val="50000"/>
            </a:schemeClr>
          </a:solidFill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de" dirty="0">
                <a:solidFill>
                  <a:schemeClr val="tx1"/>
                </a:solidFill>
              </a:rPr>
              <a:t>Verwendete Software</a:t>
            </a:r>
            <a:endParaRPr dirty="0">
              <a:solidFill>
                <a:schemeClr val="tx1"/>
              </a:solidFill>
            </a:endParaRPr>
          </a:p>
          <a:p>
            <a:pPr marL="457200" lvl="0" indent="-317183" algn="l" rtl="0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de" dirty="0">
                <a:solidFill>
                  <a:schemeClr val="tx1"/>
                </a:solidFill>
              </a:rPr>
              <a:t>Python v. </a:t>
            </a:r>
            <a:r>
              <a:rPr lang="de" u="sng" dirty="0">
                <a:solidFill>
                  <a:schemeClr val="tx1"/>
                </a:solidFill>
              </a:rPr>
              <a:t>3.12</a:t>
            </a:r>
            <a:endParaRPr dirty="0">
              <a:solidFill>
                <a:schemeClr val="tx1"/>
              </a:solidFill>
            </a:endParaRPr>
          </a:p>
          <a:p>
            <a:pPr marL="457200" lvl="0" indent="-317183" algn="l" rtl="0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de" dirty="0">
                <a:solidFill>
                  <a:schemeClr val="tx1"/>
                </a:solidFill>
              </a:rPr>
              <a:t>Pakete: Flask, PyAudio, NumPy, SciPy</a:t>
            </a:r>
            <a:endParaRPr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de" dirty="0">
                <a:solidFill>
                  <a:schemeClr val="tx1"/>
                </a:solidFill>
              </a:rPr>
              <a:t>Verwendete Hardware</a:t>
            </a:r>
            <a:endParaRPr dirty="0">
              <a:solidFill>
                <a:schemeClr val="tx1"/>
              </a:solidFill>
            </a:endParaRPr>
          </a:p>
          <a:p>
            <a:pPr marL="457200" lvl="0" indent="-317183" algn="l" rtl="0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de" dirty="0">
                <a:solidFill>
                  <a:schemeClr val="tx1"/>
                </a:solidFill>
              </a:rPr>
              <a:t>Raspberry Pi Zero W</a:t>
            </a:r>
          </a:p>
          <a:p>
            <a:pPr marL="457200" lvl="0" indent="-317183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" dirty="0">
                <a:solidFill>
                  <a:schemeClr val="tx1"/>
                </a:solidFill>
              </a:rPr>
              <a:t>Adafruit I2S MEMS Mikrofon ICS-43434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de" dirty="0">
                <a:solidFill>
                  <a:schemeClr val="tx1"/>
                </a:solidFill>
              </a:rPr>
              <a:t>Ansatz:</a:t>
            </a:r>
            <a:endParaRPr dirty="0">
              <a:solidFill>
                <a:schemeClr val="tx1"/>
              </a:solidFill>
            </a:endParaRPr>
          </a:p>
          <a:p>
            <a:pPr marL="457200" lvl="0" indent="-317183" algn="l" rtl="0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de" dirty="0">
                <a:solidFill>
                  <a:schemeClr val="tx1"/>
                </a:solidFill>
              </a:rPr>
              <a:t>Audio Stream vom Mikrofon</a:t>
            </a:r>
            <a:endParaRPr dirty="0">
              <a:solidFill>
                <a:schemeClr val="tx1"/>
              </a:solidFill>
            </a:endParaRPr>
          </a:p>
          <a:p>
            <a:pPr marL="457200" lvl="0" indent="-317183" algn="l" rtl="0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de" dirty="0">
                <a:solidFill>
                  <a:schemeClr val="tx1"/>
                </a:solidFill>
              </a:rPr>
              <a:t>Verarbeitung der Audiodaten in AudioProcessor</a:t>
            </a:r>
            <a:endParaRPr dirty="0">
              <a:solidFill>
                <a:schemeClr val="tx1"/>
              </a:solidFill>
            </a:endParaRPr>
          </a:p>
          <a:p>
            <a:pPr marL="457200" lvl="0" indent="-317183" algn="l" rtl="0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de" dirty="0">
                <a:solidFill>
                  <a:schemeClr val="tx1"/>
                </a:solidFill>
              </a:rPr>
              <a:t>Darstellung der Audio Metrics über lokal gehostete Flask Web-UI</a:t>
            </a:r>
            <a:endParaRPr dirty="0">
              <a:solidFill>
                <a:schemeClr val="tx1"/>
              </a:solidFill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10E45F1C-943C-37D0-64FB-BC425C6D96D2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102796" y="1335818"/>
            <a:ext cx="4866769" cy="31089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:push dir="u"/>
      </p:transition>
    </mc:Choice>
    <mc:Fallback>
      <p:transition spd="slow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500"/>
                                        <p:tgtEl>
                                          <p:spTgt spid="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500"/>
                                        <p:tgtEl>
                                          <p:spTgt spid="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500"/>
                                        <p:tgtEl>
                                          <p:spTgt spid="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500"/>
                                        <p:tgtEl>
                                          <p:spTgt spid="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500"/>
                                        <p:tgtEl>
                                          <p:spTgt spid="7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/>
      <p:bldP spid="74" grpId="1"/>
      <p:bldP spid="75" grpId="0" uiExpand="1" build="p" animBg="1"/>
      <p:bldP spid="75" grpId="1" uiExpand="1" build="p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Dokumentation</a:t>
            </a:r>
            <a:endParaRPr dirty="0"/>
          </a:p>
        </p:txBody>
      </p:sp>
      <p:sp>
        <p:nvSpPr>
          <p:cNvPr id="81" name="Google Shape;81;p17"/>
          <p:cNvSpPr txBox="1">
            <a:spLocks noGrp="1"/>
          </p:cNvSpPr>
          <p:nvPr>
            <p:ph type="body" idx="1"/>
          </p:nvPr>
        </p:nvSpPr>
        <p:spPr>
          <a:xfrm>
            <a:off x="176529" y="3427650"/>
            <a:ext cx="4824842" cy="692228"/>
          </a:xfrm>
          <a:prstGeom prst="rect">
            <a:avLst/>
          </a:prstGeom>
          <a:solidFill>
            <a:schemeClr val="lt1">
              <a:alpha val="50000"/>
            </a:schemeClr>
          </a:solidFill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lvl="0" indent="0" algn="l" rtl="0"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de" sz="1400" dirty="0">
                <a:solidFill>
                  <a:schemeClr val="tx1"/>
                </a:solidFill>
              </a:rPr>
              <a:t>Anleitung zur Einrichtung einer Kopie des SPL-Meters 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19841CDC-D18D-17D3-EFA8-2FEC6CCF99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3586" y="890401"/>
            <a:ext cx="3783744" cy="2883363"/>
          </a:xfrm>
          <a:prstGeom prst="rect">
            <a:avLst/>
          </a:prstGeom>
        </p:spPr>
      </p:pic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E30410E8-0C25-0ACA-D8B6-E1292D19740E}"/>
              </a:ext>
            </a:extLst>
          </p:cNvPr>
          <p:cNvCxnSpPr>
            <a:stCxn id="81" idx="3"/>
          </p:cNvCxnSpPr>
          <p:nvPr/>
        </p:nvCxnSpPr>
        <p:spPr>
          <a:xfrm flipV="1">
            <a:off x="5001371" y="3339548"/>
            <a:ext cx="985961" cy="434216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" name="Google Shape;81;p17">
            <a:extLst>
              <a:ext uri="{FF2B5EF4-FFF2-40B4-BE49-F238E27FC236}">
                <a16:creationId xmlns:a16="http://schemas.microsoft.com/office/drawing/2014/main" id="{9E37156C-C64D-9981-567E-618C2FF7463B}"/>
              </a:ext>
            </a:extLst>
          </p:cNvPr>
          <p:cNvSpPr txBox="1">
            <a:spLocks/>
          </p:cNvSpPr>
          <p:nvPr/>
        </p:nvSpPr>
        <p:spPr>
          <a:xfrm>
            <a:off x="176529" y="1017725"/>
            <a:ext cx="4824842" cy="692228"/>
          </a:xfrm>
          <a:prstGeom prst="rect">
            <a:avLst/>
          </a:prstGeom>
          <a:solidFill>
            <a:schemeClr val="lt1">
              <a:alpha val="5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spcBef>
                <a:spcPts val="1200"/>
              </a:spcBef>
              <a:buFont typeface="Arial"/>
              <a:buNone/>
            </a:pPr>
            <a:r>
              <a:rPr lang="de" sz="1400" dirty="0">
                <a:solidFill>
                  <a:schemeClr val="tx1"/>
                </a:solidFill>
              </a:rPr>
              <a:t>Übersicht über die Programmier und Aufbau des SPL-Meters </a:t>
            </a:r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5CC551BE-4AAB-A638-7E69-6F73A37FC698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5001371" y="1363839"/>
            <a:ext cx="1025195" cy="521249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" name="Google Shape;81;p17">
            <a:extLst>
              <a:ext uri="{FF2B5EF4-FFF2-40B4-BE49-F238E27FC236}">
                <a16:creationId xmlns:a16="http://schemas.microsoft.com/office/drawing/2014/main" id="{1287F835-F6FA-32CE-D40C-CE66E0640CDF}"/>
              </a:ext>
            </a:extLst>
          </p:cNvPr>
          <p:cNvSpPr txBox="1">
            <a:spLocks/>
          </p:cNvSpPr>
          <p:nvPr/>
        </p:nvSpPr>
        <p:spPr>
          <a:xfrm>
            <a:off x="1884459" y="1779957"/>
            <a:ext cx="3116912" cy="692228"/>
          </a:xfrm>
          <a:prstGeom prst="rect">
            <a:avLst/>
          </a:prstGeom>
          <a:solidFill>
            <a:schemeClr val="lt1">
              <a:alpha val="5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spcBef>
                <a:spcPts val="1200"/>
              </a:spcBef>
              <a:buFont typeface="Arial"/>
              <a:buNone/>
            </a:pPr>
            <a:r>
              <a:rPr lang="de" sz="1400" dirty="0">
                <a:solidFill>
                  <a:schemeClr val="tx1"/>
                </a:solidFill>
              </a:rPr>
              <a:t>Remote Zugriff und SSH einrichten</a:t>
            </a:r>
          </a:p>
        </p:txBody>
      </p: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90E890B9-4860-4796-1B04-CAAB52AE4543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5001371" y="2126071"/>
            <a:ext cx="985961" cy="68489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Google Shape;81;p17">
            <a:extLst>
              <a:ext uri="{FF2B5EF4-FFF2-40B4-BE49-F238E27FC236}">
                <a16:creationId xmlns:a16="http://schemas.microsoft.com/office/drawing/2014/main" id="{0F7FF9A8-90F2-FF17-51DA-01F8F812145F}"/>
              </a:ext>
            </a:extLst>
          </p:cNvPr>
          <p:cNvSpPr txBox="1">
            <a:spLocks/>
          </p:cNvSpPr>
          <p:nvPr/>
        </p:nvSpPr>
        <p:spPr>
          <a:xfrm>
            <a:off x="1399430" y="2577473"/>
            <a:ext cx="3601941" cy="692228"/>
          </a:xfrm>
          <a:prstGeom prst="rect">
            <a:avLst/>
          </a:prstGeom>
          <a:solidFill>
            <a:schemeClr val="lt1">
              <a:alpha val="5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spcBef>
                <a:spcPts val="1200"/>
              </a:spcBef>
              <a:buFont typeface="Arial"/>
              <a:buNone/>
            </a:pPr>
            <a:r>
              <a:rPr lang="de" sz="1400" dirty="0">
                <a:solidFill>
                  <a:schemeClr val="tx1"/>
                </a:solidFill>
              </a:rPr>
              <a:t>Vorschrittsbericht während der Programmierung</a:t>
            </a:r>
          </a:p>
        </p:txBody>
      </p: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50A9A5F8-9C7F-5CAE-9040-111407F4D1C6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5001371" y="2923587"/>
            <a:ext cx="1005577" cy="104091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Google Shape;81;p17">
            <a:extLst>
              <a:ext uri="{FF2B5EF4-FFF2-40B4-BE49-F238E27FC236}">
                <a16:creationId xmlns:a16="http://schemas.microsoft.com/office/drawing/2014/main" id="{7645DBA8-09D1-4175-7175-7B5241D51261}"/>
              </a:ext>
            </a:extLst>
          </p:cNvPr>
          <p:cNvSpPr txBox="1">
            <a:spLocks/>
          </p:cNvSpPr>
          <p:nvPr/>
        </p:nvSpPr>
        <p:spPr>
          <a:xfrm>
            <a:off x="4468110" y="4277827"/>
            <a:ext cx="3116912" cy="865673"/>
          </a:xfrm>
          <a:prstGeom prst="rect">
            <a:avLst/>
          </a:prstGeom>
          <a:solidFill>
            <a:schemeClr val="lt1">
              <a:alpha val="5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spcBef>
                <a:spcPts val="1200"/>
              </a:spcBef>
              <a:buFont typeface="Arial"/>
              <a:buNone/>
            </a:pPr>
            <a:r>
              <a:rPr lang="de" sz="2800" b="1" dirty="0">
                <a:solidFill>
                  <a:schemeClr val="tx1"/>
                </a:solidFill>
              </a:rPr>
              <a:t>Nutzeranleitung</a:t>
            </a:r>
          </a:p>
        </p:txBody>
      </p: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BC1C2843-8A40-BB38-7C30-03C8AC646CEE}"/>
              </a:ext>
            </a:extLst>
          </p:cNvPr>
          <p:cNvCxnSpPr>
            <a:cxnSpLocks/>
            <a:stCxn id="20" idx="0"/>
          </p:cNvCxnSpPr>
          <p:nvPr/>
        </p:nvCxnSpPr>
        <p:spPr>
          <a:xfrm flipV="1">
            <a:off x="6026566" y="3773764"/>
            <a:ext cx="398088" cy="504063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:push dir="u"/>
      </p:transition>
    </mc:Choice>
    <mc:Fallback>
      <p:transition spd="slow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500"/>
                                        <p:tgtEl>
                                          <p:spTgt spid="8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" grpId="0"/>
      <p:bldP spid="80" grpId="1"/>
      <p:bldP spid="81" grpId="0" build="p" animBg="1"/>
      <p:bldP spid="81" grpId="1" build="p" animBg="1"/>
      <p:bldP spid="7" grpId="0" animBg="1"/>
      <p:bldP spid="7" grpId="1" animBg="1"/>
      <p:bldP spid="11" grpId="0" animBg="1"/>
      <p:bldP spid="11" grpId="1" animBg="1"/>
      <p:bldP spid="16" grpId="0" animBg="1"/>
      <p:bldP spid="16" grpId="1" animBg="1"/>
      <p:bldP spid="20" grpId="0" animBg="1"/>
      <p:bldP spid="20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Demonstration</a:t>
            </a:r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body" idx="1"/>
          </p:nvPr>
        </p:nvSpPr>
        <p:spPr>
          <a:xfrm>
            <a:off x="190655" y="2260527"/>
            <a:ext cx="4140683" cy="2437948"/>
          </a:xfrm>
          <a:prstGeom prst="rect">
            <a:avLst/>
          </a:prstGeom>
          <a:solidFill>
            <a:schemeClr val="lt1">
              <a:alpha val="50000"/>
            </a:schemeClr>
          </a:solidFill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dirty="0" err="1">
                <a:solidFill>
                  <a:schemeClr val="tx1"/>
                </a:solidFill>
              </a:rPr>
              <a:t>Schließe</a:t>
            </a:r>
            <a:r>
              <a:rPr lang="en-US" dirty="0">
                <a:solidFill>
                  <a:schemeClr val="tx1"/>
                </a:solidFill>
              </a:rPr>
              <a:t> das SPL-Meter </a:t>
            </a:r>
            <a:r>
              <a:rPr lang="en-US" dirty="0" err="1">
                <a:solidFill>
                  <a:schemeClr val="tx1"/>
                </a:solidFill>
              </a:rPr>
              <a:t>über</a:t>
            </a:r>
            <a:r>
              <a:rPr lang="en-US" dirty="0">
                <a:solidFill>
                  <a:schemeClr val="tx1"/>
                </a:solidFill>
              </a:rPr>
              <a:t> den </a:t>
            </a:r>
            <a:r>
              <a:rPr lang="en-US" dirty="0" err="1">
                <a:solidFill>
                  <a:schemeClr val="tx1"/>
                </a:solidFill>
              </a:rPr>
              <a:t>mittleren</a:t>
            </a:r>
            <a:r>
              <a:rPr lang="en-US" dirty="0">
                <a:solidFill>
                  <a:schemeClr val="tx1"/>
                </a:solidFill>
              </a:rPr>
              <a:t> USB-Port an </a:t>
            </a:r>
            <a:r>
              <a:rPr lang="en-US" dirty="0" err="1">
                <a:solidFill>
                  <a:schemeClr val="tx1"/>
                </a:solidFill>
              </a:rPr>
              <a:t>einen</a:t>
            </a:r>
            <a:r>
              <a:rPr lang="en-US" dirty="0">
                <a:solidFill>
                  <a:schemeClr val="tx1"/>
                </a:solidFill>
              </a:rPr>
              <a:t> PC an.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</a:rPr>
              <a:t>Nach 60 </a:t>
            </a:r>
            <a:r>
              <a:rPr lang="en-US" dirty="0" err="1">
                <a:solidFill>
                  <a:schemeClr val="tx1"/>
                </a:solidFill>
              </a:rPr>
              <a:t>sek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meldet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sich</a:t>
            </a:r>
            <a:r>
              <a:rPr lang="en-US" dirty="0">
                <a:solidFill>
                  <a:schemeClr val="tx1"/>
                </a:solidFill>
              </a:rPr>
              <a:t> der Drive des SPL-Meter.</a:t>
            </a:r>
            <a:endParaRPr dirty="0">
              <a:solidFill>
                <a:schemeClr val="tx1"/>
              </a:solidFill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09A75C3D-252E-A121-B229-2BE7B7D749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6965" y="1923018"/>
            <a:ext cx="4736956" cy="2028496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D4462B9E-A412-0D87-983E-95764F7D9C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5681736">
            <a:off x="1112000" y="-315115"/>
            <a:ext cx="2171123" cy="385837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:push dir="u"/>
      </p:transition>
    </mc:Choice>
    <mc:Fallback>
      <p:transition spd="slow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8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" grpId="0"/>
      <p:bldP spid="86" grpId="1"/>
      <p:bldP spid="87" grpId="0" uiExpand="1" build="p" animBg="1"/>
      <p:bldP spid="87" grpId="1" uiExpand="1" build="p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Shape 85">
          <a:extLst>
            <a:ext uri="{FF2B5EF4-FFF2-40B4-BE49-F238E27FC236}">
              <a16:creationId xmlns:a16="http://schemas.microsoft.com/office/drawing/2014/main" id="{9CE67198-2F78-A64E-76D4-539B03129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>
            <a:extLst>
              <a:ext uri="{FF2B5EF4-FFF2-40B4-BE49-F238E27FC236}">
                <a16:creationId xmlns:a16="http://schemas.microsoft.com/office/drawing/2014/main" id="{E5C5A86E-8C1A-6857-235B-981CA64396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Demonstration</a:t>
            </a:r>
            <a:endParaRPr dirty="0"/>
          </a:p>
        </p:txBody>
      </p:sp>
      <p:sp>
        <p:nvSpPr>
          <p:cNvPr id="87" name="Google Shape;87;p18">
            <a:extLst>
              <a:ext uri="{FF2B5EF4-FFF2-40B4-BE49-F238E27FC236}">
                <a16:creationId xmlns:a16="http://schemas.microsoft.com/office/drawing/2014/main" id="{0AD9E68C-461F-D764-1C83-C516D555E7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47989" y="1740870"/>
            <a:ext cx="3632147" cy="2226831"/>
          </a:xfrm>
          <a:prstGeom prst="rect">
            <a:avLst/>
          </a:prstGeom>
          <a:solidFill>
            <a:schemeClr val="lt1">
              <a:alpha val="50000"/>
            </a:schemeClr>
          </a:solidFill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lvl="0" indent="0" algn="l" rtl="0"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US" dirty="0">
                <a:solidFill>
                  <a:schemeClr val="tx1"/>
                </a:solidFill>
              </a:rPr>
              <a:t>Der </a:t>
            </a:r>
            <a:r>
              <a:rPr lang="en-US" dirty="0" err="1">
                <a:solidFill>
                  <a:schemeClr val="tx1"/>
                </a:solidFill>
              </a:rPr>
              <a:t>Userguide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gibt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klare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Anweisungen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wie</a:t>
            </a:r>
            <a:r>
              <a:rPr lang="en-US" dirty="0">
                <a:solidFill>
                  <a:schemeClr val="tx1"/>
                </a:solidFill>
              </a:rPr>
              <a:t> es </a:t>
            </a:r>
            <a:r>
              <a:rPr lang="en-US" dirty="0" err="1">
                <a:solidFill>
                  <a:schemeClr val="tx1"/>
                </a:solidFill>
              </a:rPr>
              <a:t>weitergeht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 marL="114300" lvl="0" indent="0" algn="l" rtl="0"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US" dirty="0">
                <a:solidFill>
                  <a:schemeClr val="tx1"/>
                </a:solidFill>
              </a:rPr>
              <a:t>Hier die </a:t>
            </a:r>
            <a:r>
              <a:rPr lang="en-US" dirty="0" err="1">
                <a:solidFill>
                  <a:schemeClr val="tx1"/>
                </a:solidFill>
              </a:rPr>
              <a:t>passenden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Infos</a:t>
            </a:r>
            <a:r>
              <a:rPr lang="en-US" dirty="0">
                <a:solidFill>
                  <a:schemeClr val="tx1"/>
                </a:solidFill>
              </a:rPr>
              <a:t> für das </a:t>
            </a:r>
            <a:r>
              <a:rPr lang="en-US" dirty="0" err="1">
                <a:solidFill>
                  <a:schemeClr val="tx1"/>
                </a:solidFill>
              </a:rPr>
              <a:t>Netzwerk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eingeben</a:t>
            </a:r>
            <a:r>
              <a:rPr lang="en-US" dirty="0">
                <a:solidFill>
                  <a:schemeClr val="tx1"/>
                </a:solidFill>
              </a:rPr>
              <a:t> und den Pi neu </a:t>
            </a:r>
            <a:r>
              <a:rPr lang="en-US" dirty="0" err="1">
                <a:solidFill>
                  <a:schemeClr val="tx1"/>
                </a:solidFill>
              </a:rPr>
              <a:t>starten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5DB5FD15-601B-8783-C23D-D3184ABCEE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87987" y="834887"/>
            <a:ext cx="4968549" cy="3314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4562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:push dir="u"/>
      </p:transition>
    </mc:Choice>
    <mc:Fallback>
      <p:transition spd="slow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8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" grpId="0"/>
      <p:bldP spid="86" grpId="1"/>
      <p:bldP spid="87" grpId="0" uiExpand="1" build="p" animBg="1"/>
      <p:bldP spid="87" grpId="1" uiExpand="1" build="p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Shape 85">
          <a:extLst>
            <a:ext uri="{FF2B5EF4-FFF2-40B4-BE49-F238E27FC236}">
              <a16:creationId xmlns:a16="http://schemas.microsoft.com/office/drawing/2014/main" id="{2DA9AD52-CB11-54A6-7739-A2EAC83DB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>
            <a:extLst>
              <a:ext uri="{FF2B5EF4-FFF2-40B4-BE49-F238E27FC236}">
                <a16:creationId xmlns:a16="http://schemas.microsoft.com/office/drawing/2014/main" id="{F2BBB08F-B35E-CE0D-C641-30877C450DF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Demonstration</a:t>
            </a:r>
            <a:endParaRPr dirty="0"/>
          </a:p>
        </p:txBody>
      </p:sp>
      <p:sp>
        <p:nvSpPr>
          <p:cNvPr id="87" name="Google Shape;87;p18">
            <a:extLst>
              <a:ext uri="{FF2B5EF4-FFF2-40B4-BE49-F238E27FC236}">
                <a16:creationId xmlns:a16="http://schemas.microsoft.com/office/drawing/2014/main" id="{5D062B14-39D2-C0F0-E67B-086ACB6058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36294" y="885563"/>
            <a:ext cx="6734079" cy="962075"/>
          </a:xfrm>
          <a:prstGeom prst="rect">
            <a:avLst/>
          </a:prstGeom>
          <a:solidFill>
            <a:schemeClr val="lt1">
              <a:alpha val="50000"/>
            </a:schemeClr>
          </a:solidFill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</a:rPr>
              <a:t>Finde die IP-</a:t>
            </a:r>
            <a:r>
              <a:rPr lang="en-US" dirty="0" err="1">
                <a:solidFill>
                  <a:schemeClr val="tx1"/>
                </a:solidFill>
              </a:rPr>
              <a:t>Adresse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über</a:t>
            </a:r>
            <a:r>
              <a:rPr lang="en-US" dirty="0">
                <a:solidFill>
                  <a:schemeClr val="tx1"/>
                </a:solidFill>
              </a:rPr>
              <a:t> den Router </a:t>
            </a:r>
            <a:r>
              <a:rPr lang="en-US" dirty="0" err="1">
                <a:solidFill>
                  <a:schemeClr val="tx1"/>
                </a:solidFill>
              </a:rPr>
              <a:t>tipp</a:t>
            </a:r>
            <a:r>
              <a:rPr lang="en-US" dirty="0">
                <a:solidFill>
                  <a:schemeClr val="tx1"/>
                </a:solidFill>
              </a:rPr>
              <a:t> den </a:t>
            </a:r>
            <a:r>
              <a:rPr lang="en-US" dirty="0" err="1">
                <a:solidFill>
                  <a:schemeClr val="tx1"/>
                </a:solidFill>
              </a:rPr>
              <a:t>Befehl</a:t>
            </a:r>
            <a:r>
              <a:rPr lang="en-US" dirty="0">
                <a:solidFill>
                  <a:schemeClr val="tx1"/>
                </a:solidFill>
              </a:rPr>
              <a:t> in </a:t>
            </a:r>
            <a:r>
              <a:rPr lang="en-US" dirty="0" err="1">
                <a:solidFill>
                  <a:schemeClr val="tx1"/>
                </a:solidFill>
              </a:rPr>
              <a:t>einen</a:t>
            </a:r>
            <a:r>
              <a:rPr lang="en-US" dirty="0">
                <a:solidFill>
                  <a:schemeClr val="tx1"/>
                </a:solidFill>
              </a:rPr>
              <a:t> Terminal </a:t>
            </a:r>
            <a:r>
              <a:rPr lang="en-US" dirty="0" err="1">
                <a:solidFill>
                  <a:schemeClr val="tx1"/>
                </a:solidFill>
              </a:rPr>
              <a:t>ein</a:t>
            </a:r>
            <a:r>
              <a:rPr lang="en-US" dirty="0">
                <a:solidFill>
                  <a:schemeClr val="tx1"/>
                </a:solidFill>
              </a:rPr>
              <a:t>: ssh: </a:t>
            </a:r>
            <a:r>
              <a:rPr lang="en-US" dirty="0" err="1">
                <a:solidFill>
                  <a:schemeClr val="tx1"/>
                </a:solidFill>
              </a:rPr>
              <a:t>teamrapsberry</a:t>
            </a:r>
            <a:r>
              <a:rPr lang="en-US" dirty="0">
                <a:solidFill>
                  <a:schemeClr val="tx1"/>
                </a:solidFill>
              </a:rPr>
              <a:t>@&lt;ip-address&gt;  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5" name="Google Shape;87;p18">
            <a:extLst>
              <a:ext uri="{FF2B5EF4-FFF2-40B4-BE49-F238E27FC236}">
                <a16:creationId xmlns:a16="http://schemas.microsoft.com/office/drawing/2014/main" id="{133E3E16-25B7-A134-EA3B-C694372C6D09}"/>
              </a:ext>
            </a:extLst>
          </p:cNvPr>
          <p:cNvSpPr txBox="1">
            <a:spLocks/>
          </p:cNvSpPr>
          <p:nvPr/>
        </p:nvSpPr>
        <p:spPr>
          <a:xfrm>
            <a:off x="891364" y="3962714"/>
            <a:ext cx="6734080" cy="829913"/>
          </a:xfrm>
          <a:prstGeom prst="rect">
            <a:avLst/>
          </a:prstGeom>
          <a:solidFill>
            <a:schemeClr val="lt1">
              <a:alpha val="5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Bef>
                <a:spcPts val="1200"/>
              </a:spcBef>
              <a:buFont typeface="Arial"/>
              <a:buNone/>
            </a:pPr>
            <a:r>
              <a:rPr lang="de-DE" dirty="0">
                <a:solidFill>
                  <a:schemeClr val="tx1"/>
                </a:solidFill>
              </a:rPr>
              <a:t>Nun kann man alle Optionen des </a:t>
            </a:r>
            <a:r>
              <a:rPr lang="de-DE" dirty="0" err="1">
                <a:solidFill>
                  <a:schemeClr val="tx1"/>
                </a:solidFill>
              </a:rPr>
              <a:t>Commandline</a:t>
            </a:r>
            <a:r>
              <a:rPr lang="de-DE" dirty="0">
                <a:solidFill>
                  <a:schemeClr val="tx1"/>
                </a:solidFill>
              </a:rPr>
              <a:t>-Interface nutzen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BE44BEF-9150-743A-BD49-41E45BA4B66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740" b="840"/>
          <a:stretch>
            <a:fillRect/>
          </a:stretch>
        </p:blipFill>
        <p:spPr>
          <a:xfrm>
            <a:off x="1892696" y="1763486"/>
            <a:ext cx="6802272" cy="2343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3201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:push dir="u"/>
      </p:transition>
    </mc:Choice>
    <mc:Fallback>
      <p:transition spd="slow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8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" grpId="0"/>
      <p:bldP spid="87" grpId="0" build="p" animBg="1"/>
      <p:bldP spid="87" grpId="1" uiExpand="1" build="p" animBg="1"/>
      <p:bldP spid="5" grpId="0" animBg="1"/>
      <p:bldP spid="5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Shape 85">
          <a:extLst>
            <a:ext uri="{FF2B5EF4-FFF2-40B4-BE49-F238E27FC236}">
              <a16:creationId xmlns:a16="http://schemas.microsoft.com/office/drawing/2014/main" id="{8CB498F5-0325-1B28-126E-B85B91BCD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>
            <a:extLst>
              <a:ext uri="{FF2B5EF4-FFF2-40B4-BE49-F238E27FC236}">
                <a16:creationId xmlns:a16="http://schemas.microsoft.com/office/drawing/2014/main" id="{8CC21426-CA5D-58AD-1A5C-A5CA0BE5E3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Demonstration</a:t>
            </a:r>
            <a:endParaRPr/>
          </a:p>
        </p:txBody>
      </p:sp>
      <p:sp>
        <p:nvSpPr>
          <p:cNvPr id="87" name="Google Shape;87;p18">
            <a:extLst>
              <a:ext uri="{FF2B5EF4-FFF2-40B4-BE49-F238E27FC236}">
                <a16:creationId xmlns:a16="http://schemas.microsoft.com/office/drawing/2014/main" id="{B2F629E3-2343-6437-4EA6-D7C060F4C2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174450" cy="2643918"/>
          </a:xfrm>
          <a:prstGeom prst="rect">
            <a:avLst/>
          </a:prstGeom>
          <a:solidFill>
            <a:schemeClr val="lt1">
              <a:alpha val="50000"/>
            </a:schemeClr>
          </a:solidFill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dirty="0"/>
              <a:t>Das main.py des SPL-Meter </a:t>
            </a:r>
            <a:r>
              <a:rPr lang="en-US" dirty="0" err="1"/>
              <a:t>startet</a:t>
            </a:r>
            <a:r>
              <a:rPr lang="en-US" dirty="0"/>
              <a:t> </a:t>
            </a:r>
            <a:r>
              <a:rPr lang="en-US" dirty="0" err="1"/>
              <a:t>automatisch</a:t>
            </a:r>
            <a:r>
              <a:rPr lang="en-US" dirty="0"/>
              <a:t>. Daher </a:t>
            </a:r>
            <a:r>
              <a:rPr lang="en-US" dirty="0" err="1"/>
              <a:t>kann</a:t>
            </a:r>
            <a:r>
              <a:rPr lang="en-US" dirty="0"/>
              <a:t> die IP-</a:t>
            </a:r>
            <a:r>
              <a:rPr lang="en-US" dirty="0" err="1"/>
              <a:t>Adresse</a:t>
            </a:r>
            <a:r>
              <a:rPr lang="en-US" dirty="0"/>
              <a:t> </a:t>
            </a:r>
            <a:r>
              <a:rPr lang="en-US" dirty="0" err="1"/>
              <a:t>auch</a:t>
            </a:r>
            <a:r>
              <a:rPr lang="en-US" dirty="0"/>
              <a:t> </a:t>
            </a:r>
            <a:r>
              <a:rPr lang="en-US" dirty="0" err="1"/>
              <a:t>einfach</a:t>
            </a:r>
            <a:r>
              <a:rPr lang="en-US" dirty="0"/>
              <a:t> </a:t>
            </a:r>
            <a:r>
              <a:rPr lang="en-US" dirty="0" err="1"/>
              <a:t>im</a:t>
            </a:r>
            <a:r>
              <a:rPr lang="en-US" dirty="0"/>
              <a:t> Browser </a:t>
            </a:r>
            <a:r>
              <a:rPr lang="en-US" dirty="0" err="1"/>
              <a:t>eingegeben</a:t>
            </a:r>
            <a:r>
              <a:rPr lang="en-US" dirty="0"/>
              <a:t> </a:t>
            </a:r>
            <a:r>
              <a:rPr lang="en-US" dirty="0" err="1"/>
              <a:t>werden</a:t>
            </a:r>
            <a:r>
              <a:rPr lang="en-US" dirty="0"/>
              <a:t> und man </a:t>
            </a:r>
            <a:r>
              <a:rPr lang="en-US" dirty="0" err="1"/>
              <a:t>erhält</a:t>
            </a:r>
            <a:r>
              <a:rPr lang="en-US" dirty="0"/>
              <a:t> die </a:t>
            </a:r>
            <a:r>
              <a:rPr lang="en-US" dirty="0" err="1"/>
              <a:t>Oberfläche</a:t>
            </a:r>
            <a:r>
              <a:rPr lang="en-US" dirty="0"/>
              <a:t>. </a:t>
            </a:r>
            <a:endParaRPr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58DD378C-86FA-9F61-BA19-0B8CBE7B428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13"/>
          <a:stretch>
            <a:fillRect/>
          </a:stretch>
        </p:blipFill>
        <p:spPr>
          <a:xfrm>
            <a:off x="3845379" y="139437"/>
            <a:ext cx="3985946" cy="4864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1959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:push dir="u"/>
      </p:transition>
    </mc:Choice>
    <mc:Fallback>
      <p:transition spd="slow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8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" grpId="0"/>
      <p:bldP spid="86" grpId="1"/>
      <p:bldP spid="87" grpId="0" build="p" animBg="1"/>
      <p:bldP spid="87" grpId="1" uiExpand="1" build="p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>
            <a:spLocks noGrp="1"/>
          </p:cNvSpPr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Das war’s, wir freuen uns auf eure Fragen!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:push dir="u"/>
      </p:transition>
    </mc:Choice>
    <mc:Fallback>
      <p:transition spd="slow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>
            <a:spLocks noGrp="1"/>
          </p:cNvSpPr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Diskussionsrunde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:push dir="u"/>
      </p:transition>
    </mc:Choice>
    <mc:Fallback>
      <p:transition spd="slow">
        <p:push dir="u"/>
      </p:transition>
    </mc:Fallback>
  </mc:AlternateContent>
</p:sld>
</file>

<file path=ppt/theme/theme1.xml><?xml version="1.0" encoding="utf-8"?>
<a:theme xmlns:a="http://schemas.openxmlformats.org/drawingml/2006/main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2694</TotalTime>
  <Words>319</Words>
  <Application>Microsoft Office PowerPoint</Application>
  <PresentationFormat>Bildschirmpräsentation (16:9)</PresentationFormat>
  <Paragraphs>58</Paragraphs>
  <Slides>11</Slides>
  <Notes>11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1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3" baseType="lpstr">
      <vt:lpstr>Arial</vt:lpstr>
      <vt:lpstr>Simple Dark</vt:lpstr>
      <vt:lpstr>SPL Meter on a Raspberry Pi Zero W</vt:lpstr>
      <vt:lpstr>Aufgabe</vt:lpstr>
      <vt:lpstr>Anforderungen</vt:lpstr>
      <vt:lpstr>Umsetzung</vt:lpstr>
      <vt:lpstr>Dokumentation</vt:lpstr>
      <vt:lpstr>Demonstration</vt:lpstr>
      <vt:lpstr>Demonstration</vt:lpstr>
      <vt:lpstr>Demonstration</vt:lpstr>
      <vt:lpstr>Demonstration</vt:lpstr>
      <vt:lpstr>Das war’s, wir freuen uns auf eure Fragen!</vt:lpstr>
      <vt:lpstr>Diskussionsrunde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Lars</dc:creator>
  <cp:lastModifiedBy>Lars Dickmann</cp:lastModifiedBy>
  <cp:revision>6</cp:revision>
  <dcterms:modified xsi:type="dcterms:W3CDTF">2026-07-12T12:26:06Z</dcterms:modified>
</cp:coreProperties>
</file>